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43B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6243B"/>
                </a:solidFill>
                <a:latin typeface="Cambria"/>
              </a:rPr>
              <a:t>Mean Daily Transfers &amp; Discharges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Transfers (CBP→HHS)</c:v>
                </c:pt>
              </c:strCache>
            </c:strRef>
          </c:tx>
          <c:spPr>
            <a:solidFill>
              <a:srgbClr val="3F7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Sunday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123.7</c:v>
                </c:pt>
                <c:pt idx="1">
                  <c:v>124.9</c:v>
                </c:pt>
                <c:pt idx="2">
                  <c:v>131.7</c:v>
                </c:pt>
                <c:pt idx="3">
                  <c:v>133.4</c:v>
                </c:pt>
                <c:pt idx="4">
                  <c:v>130.1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Discharges (HHS→Sponsor)</c:v>
                </c:pt>
              </c:strCache>
            </c:strRef>
          </c:tx>
          <c:spPr>
            <a:solidFill>
              <a:srgbClr val="E0A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Sunday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157.6</c:v>
                </c:pt>
                <c:pt idx="1">
                  <c:v>136.1</c:v>
                </c:pt>
                <c:pt idx="2">
                  <c:v>166</c:v>
                </c:pt>
                <c:pt idx="3">
                  <c:v>205.7</c:v>
                </c:pt>
                <c:pt idx="4">
                  <c:v>206.1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624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43B"/>
                </a:solidFill>
                <a:latin typeface="Cambria"/>
              </a:defRPr>
            </a:pPr>
            <a:r>
              <a:rPr sz="1200" b="0" i="0" u="none" strike="noStrike">
                <a:solidFill>
                  <a:srgbClr val="16243B"/>
                </a:solidFill>
                <a:latin typeface="Cambria"/>
              </a:rPr>
              <a:t>KPI Means: Pre vs Post Break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Pre-Feb 2025</c:v>
                </c:pt>
              </c:strCache>
            </c:strRef>
          </c:tx>
          <c:spPr>
            <a:solidFill>
              <a:srgbClr val="3F7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Transfer Eff.</c:v>
                  </c:pt>
                  <c:pt idx="1">
                    <c:v>Discharge Eff.</c:v>
                  </c:pt>
                  <c:pt idx="2">
                    <c:v>Pipeline Throughput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</c:v>
                </c:pt>
                <c:pt idx="1">
                  <c:v>0.031</c:v>
                </c:pt>
                <c:pt idx="2">
                  <c:v>1.428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Post-Feb 2025</c:v>
                </c:pt>
              </c:strCache>
            </c:strRef>
          </c:tx>
          <c:spPr>
            <a:solidFill>
              <a:srgbClr val="C04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Transfer Eff.</c:v>
                  </c:pt>
                  <c:pt idx="1">
                    <c:v>Discharge Eff.</c:v>
                  </c:pt>
                  <c:pt idx="2">
                    <c:v>Pipeline Throughput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0.414</c:v>
                </c:pt>
                <c:pt idx="1">
                  <c:v>0.007</c:v>
                </c:pt>
                <c:pt idx="2">
                  <c:v>0.849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4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43B"/>
                </a:solidFill>
                <a:latin typeface="Cambria"/>
              </a:defRPr>
            </a:pPr>
            <a:r>
              <a:rPr sz="1250" b="0" i="0" u="none" strike="noStrike">
                <a:solidFill>
                  <a:srgbClr val="16243B"/>
                </a:solidFill>
                <a:latin typeface="Cambria"/>
              </a:rPr>
              <a:t>Bottleneck Days as % of Reporting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Bottleneck Frequency</c:v>
                </c:pt>
              </c:strCache>
            </c:strRef>
          </c:tx>
          <c:spPr>
            <a:solidFill>
              <a:srgbClr val="C043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Pre-Feb 2025</c:v>
                  </c:pt>
                  <c:pt idx="1">
                    <c:v>Post-Feb 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</c:v>
                </c:pt>
                <c:pt idx="1">
                  <c:v>26.3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624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43B"/>
                </a:solidFill>
                <a:latin typeface="Cambria"/>
              </a:defRPr>
            </a:pPr>
            <a:r>
              <a:rPr sz="1250" b="0" i="0" u="none" strike="noStrike">
                <a:solidFill>
                  <a:srgbClr val="16243B"/>
                </a:solidFill>
                <a:latin typeface="Cambria"/>
              </a:rPr>
              <a:t>Implied Average Stay in HHS Care (1 ÷ DEI), Selected Months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Implied Stay (days)</c:v>
                </c:pt>
              </c:strCache>
            </c:strRef>
          </c:tx>
          <c:spPr>
            <a:solidFill>
              <a:srgbClr val="3F7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2023-01</c:v>
                  </c:pt>
                  <c:pt idx="1">
                    <c:v>2023-06</c:v>
                  </c:pt>
                  <c:pt idx="2">
                    <c:v>2023-12</c:v>
                  </c:pt>
                  <c:pt idx="3">
                    <c:v>2024-06</c:v>
                  </c:pt>
                  <c:pt idx="4">
                    <c:v>2024-12</c:v>
                  </c:pt>
                  <c:pt idx="5">
                    <c:v>2025-01</c:v>
                  </c:pt>
                  <c:pt idx="6">
                    <c:v>2025-02</c:v>
                  </c:pt>
                  <c:pt idx="7">
                    <c:v>2025-03</c:v>
                  </c:pt>
                  <c:pt idx="8">
                    <c:v>2025-04</c:v>
                  </c:pt>
                  <c:pt idx="9">
                    <c:v>2025-07</c:v>
                  </c:pt>
                  <c:pt idx="10">
                    <c:v>2025-09</c:v>
                  </c:pt>
                  <c:pt idx="11">
                    <c:v>2025-11</c:v>
                  </c:pt>
                  <c:pt idx="12">
                    <c:v>2025-12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35.6</c:v>
                </c:pt>
                <c:pt idx="1">
                  <c:v>30.5</c:v>
                </c:pt>
                <c:pt idx="2">
                  <c:v>33</c:v>
                </c:pt>
                <c:pt idx="3">
                  <c:v>34.8</c:v>
                </c:pt>
                <c:pt idx="4">
                  <c:v>41.1</c:v>
                </c:pt>
                <c:pt idx="5">
                  <c:v>36</c:v>
                </c:pt>
                <c:pt idx="6">
                  <c:v>77.3</c:v>
                </c:pt>
                <c:pt idx="7">
                  <c:v>265.6</c:v>
                </c:pt>
                <c:pt idx="8">
                  <c:v>301.4</c:v>
                </c:pt>
                <c:pt idx="9">
                  <c:v>150.2</c:v>
                </c:pt>
                <c:pt idx="10">
                  <c:v>229.5</c:v>
                </c:pt>
                <c:pt idx="11">
                  <c:v>299.3</c:v>
                </c:pt>
                <c:pt idx="12">
                  <c:v>275.8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50" b="0" i="0" u="none" strike="noStrike">
                <a:solidFill>
                  <a:srgbClr val="1624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05840"/>
            <a:ext cx="3840480" cy="3840480"/>
          </a:xfrm>
          <a:prstGeom prst="ellipse">
            <a:avLst/>
          </a:prstGeom>
          <a:solidFill>
            <a:srgbClr val="3F7C8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846320"/>
            <a:ext cx="2926080" cy="2926080"/>
          </a:xfrm>
          <a:prstGeom prst="ellipse">
            <a:avLst/>
          </a:prstGeom>
          <a:solidFill>
            <a:srgbClr val="3F7C8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Transition Efficiency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Outcome Analytics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52044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Efficiency Analysis of the U.S. Department of Health and Human Services Unaccompanied Alien Children Program (2023–2025)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38100">
            <a:solidFill>
              <a:srgbClr val="3F7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846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this analysis addresses operational and logistical process efficiency only. It does not evaluate immigration policy, enforcement strategy, or legal merits.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 Hides the Story. Process Efficiency Reveals It.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92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minor is apprehended at the border, they move through a three-stage pipeline: CBP custody → HHS shelter care → sponsor placement. Public reporting focuses on headcount — how many children are in custody. But a system can have fewer children and still be more inefficient: if intake falls 90% but placement capacity falls 95%, remaining children wait longer, not shorter.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24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03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CBP Custody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68880" y="37033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71800" y="37033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243B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3703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Shelter Care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92040" y="37033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394960" y="37033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3F7C8A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3703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Placement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                                           discharge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60920" y="1554480"/>
            <a:ext cx="4251960" cy="4480560"/>
          </a:xfrm>
          <a:prstGeom prst="roundRect">
            <a:avLst>
              <a:gd name="adj" fmla="val 2581"/>
            </a:avLst>
          </a:prstGeom>
          <a:solidFill>
            <a:srgbClr val="16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17830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2258568"/>
            <a:ext cx="292608" cy="292608"/>
          </a:xfrm>
          <a:prstGeom prst="ellipse">
            <a:avLst/>
          </a:prstGeom>
          <a:solidFill>
            <a:srgbClr val="3F7C8A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2249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74152" y="216712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efficiently are children transferred from CBP to HHS?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3099816"/>
            <a:ext cx="292608" cy="292608"/>
          </a:xfrm>
          <a:prstGeom prst="ellipse">
            <a:avLst/>
          </a:prstGeom>
          <a:solidFill>
            <a:srgbClr val="3F7C8A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3090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74152" y="3008376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discharges keeping pace with inflows?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35240" y="3941064"/>
            <a:ext cx="292608" cy="292608"/>
          </a:xfrm>
          <a:prstGeom prst="ellipse">
            <a:avLst/>
          </a:prstGeom>
          <a:solidFill>
            <a:srgbClr val="3F7C8A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74152" y="3849624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where do care backlogs accumulate?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35240" y="4782312"/>
            <a:ext cx="292608" cy="292608"/>
          </a:xfrm>
          <a:prstGeom prst="ellipse">
            <a:avLst/>
          </a:prstGeom>
          <a:solidFill>
            <a:srgbClr val="3F7C8A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4773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74152" y="469087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placement outcomes improving or deteriorating over time?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 Days of Daily Government-Reported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reported daily operational data, January 12, 2023 – December 21, 2025 (raw file: 1,170 rows incl. 450 padding rows). After cleaning: 720 reporting days across ~2.94 years, evenly distributed around a median date of 2024-07-05.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24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days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after cleaning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4231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243B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CBP &amp; HHS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and flows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4231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243B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4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5508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records —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reporting blind spot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4231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6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72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derived to measure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efficiency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COVERAGE BY DAY OF WEEK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11064240" cy="82296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4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(n=2) excluded from weekday analysis; Saturday has zero records across all 720 days — a 52+ day/year monitoring gap.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Data, Modelling the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6243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103120"/>
            <a:ext cx="457200" cy="457200"/>
          </a:xfrm>
          <a:prstGeom prst="ellipse">
            <a:avLst/>
          </a:prstGeom>
          <a:solidFill>
            <a:srgbClr val="3F7C8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Comma-formatted numeric strings (e.g. "2,484") cast to 64-bit nullable integers.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63824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47288" y="187452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23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3648456" y="2103120"/>
            <a:ext cx="457200" cy="457200"/>
          </a:xfrm>
          <a:prstGeom prst="ellipse">
            <a:avLst/>
          </a:prstGeom>
          <a:solidFill>
            <a:srgbClr val="3F7C8A"/>
          </a:solidFill>
          <a:ln/>
        </p:spPr>
      </p:sp>
      <p:sp>
        <p:nvSpPr>
          <p:cNvPr id="12" name="Text 10"/>
          <p:cNvSpPr/>
          <p:nvPr/>
        </p:nvSpPr>
        <p:spPr>
          <a:xfrm>
            <a:off x="364845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8456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Parsing &amp; Cleaning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48456" y="320040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 with coercion; 450 fully-empty padding rows dropped (1,170 → 720 rows).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62472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45936" y="187452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624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47104" y="2103120"/>
            <a:ext cx="457200" cy="457200"/>
          </a:xfrm>
          <a:prstGeom prst="ellipse">
            <a:avLst/>
          </a:prstGeom>
          <a:solidFill>
            <a:srgbClr val="3F7C8A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47104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&amp; Reset Index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47104" y="320040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sorted ascending by date to validate rolling averages and lag calculations; index reset 0–719.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44584" y="187452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233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9445752" y="2103120"/>
            <a:ext cx="457200" cy="457200"/>
          </a:xfrm>
          <a:prstGeom prst="ellipse">
            <a:avLst/>
          </a:prstGeom>
          <a:solidFill>
            <a:srgbClr val="3F7C8A"/>
          </a:solidFill>
          <a:ln/>
        </p:spPr>
      </p:sp>
      <p:sp>
        <p:nvSpPr>
          <p:cNvPr id="24" name="Text 22"/>
          <p:cNvSpPr/>
          <p:nvPr/>
        </p:nvSpPr>
        <p:spPr>
          <a:xfrm>
            <a:off x="944575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45752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Modelling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45752" y="320040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represented as a directed 3-stage flow: CBP Custody → HHS Care → Sponsor Placement, each with a stock and a flow.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occur when inflow persistently exceeds outflow, causing stock to accumulate. The analytical goal: identify when, where, and how severely the pipeline slows.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KPIs Quantify Pipeline Health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1624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7647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Efficiency Ratio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 ÷ CBP Custody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CBP moves children into HHS care relative to the number waiting.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7830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1624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7647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 Effectiveness Index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46520" y="228600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286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Discharged ÷ HHS Care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HHS population placed with a sponsor on a given day. 1÷DEI = implied stay.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062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16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41879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Accumulation Rate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470916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091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Apprehended − Discharged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53035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children added to the system per day. Negative = clearing faster than arriving.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02336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2062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1624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41879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Throughput Rate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46520" y="470916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7091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(Transfers+Discharges) ÷ (Apprehended+Custody)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46520" y="53035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total exits to total entries. Above 1.0 = clearing faster than filling.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 Bottleneck, Locating the Break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624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DAY 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reporting day qualifies when BOTH conditions hold simultaneously: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233A5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432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&gt; 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233A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PTR &lt; 1.0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dual-condition definition requires both positive backlog accumulation and sub-unity throughput — more defensible than a single threshold.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10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BREAK IDENTIFICATION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194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 of all five raw time series revealed a simultaneous, sustained collapse across every metric beginning: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8803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4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1, 2025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492240" y="365760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657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Pre-break period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0" y="3657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days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425196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251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Post-break period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09760" y="4251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days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983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split the dataset for pre/post comparative analysis (Section 8).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Tightly-Coupled Subsystems, Weak Cross-Coupling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Pearson correlation matrix reveals a CBP subsystem and an HHS subsystem, each internally tight but only moderately linked to each other — evidence of a temporal lag between border intake and placement outcomes.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8880"/>
          <a:ext cx="7315200" cy="2651760"/>
        </p:xfrm>
        <a:graphic>
          <a:graphicData uri="http://schemas.openxmlformats.org/drawingml/2006/table">
            <a:tbl>
              <a:tblPr/>
              <a:tblGrid>
                <a:gridCol w="1554480"/>
                <a:gridCol w="1152144"/>
                <a:gridCol w="1152144"/>
                <a:gridCol w="1152144"/>
                <a:gridCol w="1152144"/>
                <a:gridCol w="115214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Appreh.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CBP custody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Xfer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HHS care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Apprehended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CBP custody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HHS care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A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A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246888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16243B"/>
          </a:solidFill>
          <a:ln/>
        </p:spPr>
      </p:sp>
      <p:sp>
        <p:nvSpPr>
          <p:cNvPr id="7" name="Text 4"/>
          <p:cNvSpPr/>
          <p:nvPr/>
        </p:nvSpPr>
        <p:spPr>
          <a:xfrm>
            <a:off x="8549640" y="26517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0.63–0.71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49640" y="32004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correlation — weaker than the 0.89–0.95 within CBP or 0.92 within HHS.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49640" y="416052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9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apprehended today don't appear in discharge stats for weeks — explaining why intake cuts don't immediately improve discharge outcomes.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Reactive System With Wide Swings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187452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Efficiency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 Effectiveness 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Accumulation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−79.9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−48.5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Throughput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0332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16243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 — reactive tempo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coefficient of variation signals batch-processing catch-up days rather than steady flow.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370332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16243B"/>
          </a:solidFill>
          <a:ln/>
        </p:spPr>
      </p:sp>
      <p:sp>
        <p:nvSpPr>
          <p:cNvPr id="9" name="Text 6"/>
          <p:cNvSpPr/>
          <p:nvPr/>
        </p:nvSpPr>
        <p:spPr>
          <a:xfrm>
            <a:off x="361188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 — near-frozen days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11880" y="4434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 in 4 days, fewer than 1% of children in HHS care were discharged.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370332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16243B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— misleading mean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4434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overall mean conceals that post-2025 near-zero BAR reflects collapse, not effective clearance.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89720" y="370332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16243B"/>
          </a:solidFill>
          <a:ln/>
        </p:spPr>
      </p:sp>
      <p:sp>
        <p:nvSpPr>
          <p:cNvPr id="15" name="Text 12"/>
          <p:cNvSpPr/>
          <p:nvPr/>
        </p:nvSpPr>
        <p:spPr>
          <a:xfrm>
            <a:off x="937260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PTR — falling behind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72600" y="4434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percentile of 0.749 shows the system was falling behind the intake rate on 1 in 4 days.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Sunday Is Active. Saturday Is Invisible.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06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002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16243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366760" y="23774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Discharges on Thursday (205.7) and Sunday (206.1) vs. Tuesday's low of 136.1 — a Thu–Sun placement cycle.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183880" y="3886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66760" y="4023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records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66760" y="45720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Saturday across 720 days — a 52+ day/year unmonitored operational period, distinct from the operationally-active Sunday.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and Slower: The Feb 2025 Structural Break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36192"/>
          <a:ext cx="5577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5577840" cy="173736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097280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(daily mean)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Apprehensions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04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−93.6%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CBP custody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04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−88.4%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179.8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04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−94.3%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HHS care headcount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7,686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E0A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−70.1%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241.1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04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−93.2%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355080" y="1536192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16243B"/>
          </a:solidFill>
          <a:ln/>
        </p:spPr>
      </p:sp>
      <p:sp>
        <p:nvSpPr>
          <p:cNvPr id="7" name="Text 3"/>
          <p:cNvSpPr/>
          <p:nvPr/>
        </p:nvSpPr>
        <p:spPr>
          <a:xfrm>
            <a:off x="6583680" y="17373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INTAKE-POPULATION GAP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583680" y="208483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Apprehensions fell 93.6%, but HHS population declined only 70.1% — because discharge capacity collapsed at the same time.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583680" y="2926080"/>
            <a:ext cx="4800600" cy="0"/>
          </a:xfrm>
          <a:prstGeom prst="line">
            <a:avLst/>
          </a:prstGeom>
          <a:noFill/>
          <a:ln w="12700">
            <a:solidFill>
              <a:srgbClr val="3A4E6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0" y="30358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THROUGHPUT CROSSOVER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583680" y="33832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 fell from 1.428 to 0.849 — crossing below 1.0 for the first time. The system entered a net accumulation state with no self-correcting mechanism.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83680" y="4251960"/>
            <a:ext cx="4800600" cy="0"/>
          </a:xfrm>
          <a:prstGeom prst="line">
            <a:avLst/>
          </a:prstGeom>
          <a:noFill/>
          <a:ln w="12700">
            <a:solidFill>
              <a:srgbClr val="3A4E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0" y="436168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DISCHARGE COLLAPSE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583680" y="47091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effectiveness fell 78.1% (0.031 → 0.007) — children now placed 4× slower than in 2023–2024, not explained by lower intake alone.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Paradox: Smaller Caseload, More Bottlenecks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bottleneck days total (17.6% of all 720 reporting days). Despite HHS caseload falling 70% (7,686 → 2,295), bottleneck frequency nearly doubled — the study's strongest evidence that operational capacity shrank faster than demand.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80760" y="1600200"/>
            <a:ext cx="5532120" cy="4663440"/>
          </a:xfrm>
          <a:prstGeom prst="roundRect">
            <a:avLst>
              <a:gd name="adj" fmla="val 1961"/>
            </a:avLst>
          </a:prstGeom>
          <a:solidFill>
            <a:srgbClr val="16243B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18105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12-MONTH WARNING SIGN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22860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2023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92440" y="22860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0.032–0.036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418320" y="22860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DEI, peak performance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09360" y="2871216"/>
            <a:ext cx="5029200" cy="0"/>
          </a:xfrm>
          <a:prstGeom prst="line">
            <a:avLst/>
          </a:prstGeom>
          <a:noFill/>
          <a:ln w="9525">
            <a:solidFill>
              <a:srgbClr val="2E42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9443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2024 (Oct–Dec)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92440" y="294436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0.025–0.027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418320" y="294436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erosion, no policy event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09360" y="3529584"/>
            <a:ext cx="5029200" cy="0"/>
          </a:xfrm>
          <a:prstGeom prst="line">
            <a:avLst/>
          </a:prstGeom>
          <a:noFill/>
          <a:ln w="9525">
            <a:solidFill>
              <a:srgbClr val="2E42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60273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092440" y="3602736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418320" y="360273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Transitional — collapse begins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309360" y="4187952"/>
            <a:ext cx="5029200" cy="0"/>
          </a:xfrm>
          <a:prstGeom prst="line">
            <a:avLst/>
          </a:prstGeom>
          <a:noFill/>
          <a:ln w="9525">
            <a:solidFill>
              <a:srgbClr val="2E42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426110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 onward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092440" y="426110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0.004–0.009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418320" y="426110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floor — months-long waits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309360" y="4846320"/>
            <a:ext cx="5029200" cy="0"/>
          </a:xfrm>
          <a:prstGeom prst="line">
            <a:avLst/>
          </a:prstGeom>
          <a:noFill/>
          <a:ln w="9525">
            <a:solidFill>
              <a:srgbClr val="2E42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507492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days rose to 7–11/month by mid-to-late 2024 — 6–8 months before the February 2025 break, confirming the system was failing before the external shock.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Waits: From 30 Days to 300 Days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reference: 72-day HHS legal guideline (amber) and 30-day operational target (teal) — see callouts at right.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1554480"/>
            <a:ext cx="3063240" cy="2148840"/>
          </a:xfrm>
          <a:prstGeom prst="roundRect">
            <a:avLst>
              <a:gd name="adj" fmla="val 4255"/>
            </a:avLst>
          </a:prstGeom>
          <a:solidFill>
            <a:srgbClr val="16243B"/>
          </a:solidFill>
          <a:ln/>
        </p:spPr>
      </p:sp>
      <p:sp>
        <p:nvSpPr>
          <p:cNvPr id="7" name="Text 4"/>
          <p:cNvSpPr/>
          <p:nvPr/>
        </p:nvSpPr>
        <p:spPr>
          <a:xfrm>
            <a:off x="8732520" y="1691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4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301 days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732520" y="228600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implied stay, April 2025 — 4.2× the 72-day legal guideline.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49640" y="388620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732520" y="4480560"/>
            <a:ext cx="2697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guideline breach at 77 days — one month before the structural break, signalling the crisis was already underway.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754880"/>
            <a:ext cx="3200400" cy="3200400"/>
          </a:xfrm>
          <a:prstGeom prst="ellipse">
            <a:avLst/>
          </a:prstGeom>
          <a:solidFill>
            <a:srgbClr val="3F7C8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Restoring Placement Capacity Is the Urgent Priority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did not simply get smaller — it became smaller and proportionally less capable. Reducing intake without maintaining placement capacity does not improve outcomes for children already in care.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33A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95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— Restore Placement Capacity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sponsor vetting, caseworker staffing, background-check speed to bring stays back toward 30–40 days.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3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395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— Real-Time KPI Monitoring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76148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DEI, TER, PTR on a rolling 30-day basis; the 12-month warning trend was visible before the breach.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229600" y="2286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3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395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 — Mandate Saturday Reporting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0" y="276148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 52+ day/year blind spot; enable accurate weekday-pattern analysis.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3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95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 — Investigate Thu–Sun Cycle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36168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mid-week vetting steps to distribute discharges more evenly across the week.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389120" y="3886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3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995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 — PTR ≥ 1.0 Policy Threshold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0" y="436168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mandatory review when throughput falls below 1.0 for 10+ consecutive days.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229600" y="3886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3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3995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 — Publish Implied Stay Duration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0" y="436168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this child-centred metric alongside headcount for public accountability.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UAC Program — Care Transition Efficiency &amp; Placement Outcome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2026-07-12T20:53:45Z</dcterms:created>
  <dcterms:modified xsi:type="dcterms:W3CDTF">2026-07-12T20:53:45Z</dcterms:modified>
</cp:coreProperties>
</file>